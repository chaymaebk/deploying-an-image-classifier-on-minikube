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9" r:id="rId10"/>
    <p:sldId id="264" r:id="rId11"/>
    <p:sldId id="265" r:id="rId12"/>
    <p:sldId id="268" r:id="rId13"/>
    <p:sldId id="266" r:id="rId14"/>
    <p:sldId id="267" r:id="rId15"/>
  </p:sldIdLst>
  <p:sldSz cx="18288000" cy="10287000"/>
  <p:notesSz cx="6858000" cy="9144000"/>
  <p:embeddedFontLst>
    <p:embeddedFont>
      <p:font typeface="Clear Sans Regular Bold" panose="020B0604020202020204" charset="0"/>
      <p:regular r:id="rId16"/>
    </p:embeddedFont>
    <p:embeddedFont>
      <p:font typeface="Clear Sans Bold" panose="020B0604020202020204" charset="0"/>
      <p:regular r:id="rId17"/>
    </p:embeddedFont>
    <p:embeddedFont>
      <p:font typeface="Calibri" panose="020F0502020204030204" pitchFamily="3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322597" y="0"/>
            <a:ext cx="6389016" cy="10287000"/>
          </a:xfrm>
          <a:custGeom>
            <a:avLst/>
            <a:gdLst/>
            <a:ahLst/>
            <a:cxnLst/>
            <a:rect l="l" t="t" r="r" b="b"/>
            <a:pathLst>
              <a:path w="6389016" h="10287000">
                <a:moveTo>
                  <a:pt x="0" y="0"/>
                </a:moveTo>
                <a:lnTo>
                  <a:pt x="6389016" y="0"/>
                </a:lnTo>
                <a:lnTo>
                  <a:pt x="6389016" y="10287000"/>
                </a:lnTo>
                <a:lnTo>
                  <a:pt x="0" y="10287000"/>
                </a:lnTo>
                <a:lnTo>
                  <a:pt x="0" y="0"/>
                </a:lnTo>
                <a:close/>
              </a:path>
            </a:pathLst>
          </a:custGeom>
          <a:blipFill>
            <a:blip r:embed="rId2"/>
            <a:stretch>
              <a:fillRect l="-66571" r="-75095"/>
            </a:stretch>
          </a:blipFill>
        </p:spPr>
      </p:sp>
      <p:grpSp>
        <p:nvGrpSpPr>
          <p:cNvPr id="3" name="Group 3"/>
          <p:cNvGrpSpPr/>
          <p:nvPr/>
        </p:nvGrpSpPr>
        <p:grpSpPr>
          <a:xfrm>
            <a:off x="6948804" y="1598033"/>
            <a:ext cx="10310496" cy="6429983"/>
            <a:chOff x="0" y="0"/>
            <a:chExt cx="13747328" cy="8573310"/>
          </a:xfrm>
        </p:grpSpPr>
        <p:sp>
          <p:nvSpPr>
            <p:cNvPr id="4" name="TextBox 4"/>
            <p:cNvSpPr txBox="1"/>
            <p:nvPr/>
          </p:nvSpPr>
          <p:spPr>
            <a:xfrm>
              <a:off x="0" y="1368999"/>
              <a:ext cx="13747328" cy="4166659"/>
            </a:xfrm>
            <a:prstGeom prst="rect">
              <a:avLst/>
            </a:prstGeom>
          </p:spPr>
          <p:txBody>
            <a:bodyPr lIns="0" tIns="0" rIns="0" bIns="0" rtlCol="0" anchor="t">
              <a:spAutoFit/>
            </a:bodyPr>
            <a:lstStyle/>
            <a:p>
              <a:pPr algn="ctr">
                <a:lnSpc>
                  <a:spcPts val="8000"/>
                </a:lnSpc>
              </a:pPr>
              <a:r>
                <a:rPr lang="en-US" sz="8000" b="1">
                  <a:solidFill>
                    <a:srgbClr val="0D367B"/>
                  </a:solidFill>
                  <a:latin typeface="Clear Sans Bold"/>
                  <a:ea typeface="Clear Sans Bold"/>
                  <a:cs typeface="Clear Sans Bold"/>
                  <a:sym typeface="Clear Sans Bold"/>
                </a:rPr>
                <a:t>Détection de Maladie Cardiaque</a:t>
              </a:r>
            </a:p>
            <a:p>
              <a:pPr algn="l">
                <a:lnSpc>
                  <a:spcPts val="8000"/>
                </a:lnSpc>
              </a:pPr>
              <a:endParaRPr lang="en-US" sz="8000" b="1">
                <a:solidFill>
                  <a:srgbClr val="0D367B"/>
                </a:solidFill>
                <a:latin typeface="Clear Sans Bold"/>
                <a:ea typeface="Clear Sans Bold"/>
                <a:cs typeface="Clear Sans Bold"/>
                <a:sym typeface="Clear Sans Bold"/>
              </a:endParaRPr>
            </a:p>
          </p:txBody>
        </p:sp>
        <p:sp>
          <p:nvSpPr>
            <p:cNvPr id="5" name="TextBox 5"/>
            <p:cNvSpPr txBox="1"/>
            <p:nvPr/>
          </p:nvSpPr>
          <p:spPr>
            <a:xfrm>
              <a:off x="0" y="-47625"/>
              <a:ext cx="13747328" cy="525145"/>
            </a:xfrm>
            <a:prstGeom prst="rect">
              <a:avLst/>
            </a:prstGeom>
          </p:spPr>
          <p:txBody>
            <a:bodyPr lIns="0" tIns="0" rIns="0" bIns="0" rtlCol="0" anchor="t">
              <a:spAutoFit/>
            </a:bodyPr>
            <a:lstStyle/>
            <a:p>
              <a:pPr algn="l">
                <a:lnSpc>
                  <a:spcPts val="3359"/>
                </a:lnSpc>
              </a:pPr>
              <a:endParaRPr/>
            </a:p>
          </p:txBody>
        </p:sp>
        <p:sp>
          <p:nvSpPr>
            <p:cNvPr id="6" name="TextBox 6"/>
            <p:cNvSpPr txBox="1"/>
            <p:nvPr/>
          </p:nvSpPr>
          <p:spPr>
            <a:xfrm>
              <a:off x="0" y="6369987"/>
              <a:ext cx="13747328" cy="2203323"/>
            </a:xfrm>
            <a:prstGeom prst="rect">
              <a:avLst/>
            </a:prstGeom>
          </p:spPr>
          <p:txBody>
            <a:bodyPr lIns="0" tIns="0" rIns="0" bIns="0" rtlCol="0" anchor="t">
              <a:spAutoFit/>
            </a:bodyPr>
            <a:lstStyle/>
            <a:p>
              <a:pPr algn="l">
                <a:lnSpc>
                  <a:spcPts val="3161"/>
                </a:lnSpc>
              </a:pPr>
              <a:r>
                <a:rPr lang="en-US" sz="3399" b="1" spc="322">
                  <a:solidFill>
                    <a:srgbClr val="5994BE"/>
                  </a:solidFill>
                  <a:latin typeface="Clear Sans Regular Bold"/>
                  <a:ea typeface="Clear Sans Regular Bold"/>
                  <a:cs typeface="Clear Sans Regular Bold"/>
                  <a:sym typeface="Clear Sans Regular Bold"/>
                </a:rPr>
                <a:t>Realisé par : </a:t>
              </a:r>
            </a:p>
            <a:p>
              <a:pPr algn="l">
                <a:lnSpc>
                  <a:spcPts val="3161"/>
                </a:lnSpc>
              </a:pPr>
              <a:endParaRPr lang="en-US" sz="3399" b="1" spc="322">
                <a:solidFill>
                  <a:srgbClr val="5994BE"/>
                </a:solidFill>
                <a:latin typeface="Clear Sans Regular Bold"/>
                <a:ea typeface="Clear Sans Regular Bold"/>
                <a:cs typeface="Clear Sans Regular Bold"/>
                <a:sym typeface="Clear Sans Regular Bold"/>
              </a:endParaRPr>
            </a:p>
            <a:p>
              <a:pPr algn="l">
                <a:lnSpc>
                  <a:spcPts val="3161"/>
                </a:lnSpc>
              </a:pPr>
              <a:r>
                <a:rPr lang="en-US" sz="3399" b="1" spc="214">
                  <a:solidFill>
                    <a:srgbClr val="5994BE"/>
                  </a:solidFill>
                  <a:latin typeface="Clear Sans Regular Bold"/>
                  <a:ea typeface="Clear Sans Regular Bold"/>
                  <a:cs typeface="Clear Sans Regular Bold"/>
                  <a:sym typeface="Clear Sans Regular Bold"/>
                </a:rPr>
                <a:t>                Chaymae Balfaik</a:t>
              </a:r>
            </a:p>
            <a:p>
              <a:pPr algn="l">
                <a:lnSpc>
                  <a:spcPts val="3161"/>
                </a:lnSpc>
              </a:pPr>
              <a:endParaRPr lang="en-US" sz="3399" b="1" spc="214">
                <a:solidFill>
                  <a:srgbClr val="5994BE"/>
                </a:solidFill>
                <a:latin typeface="Clear Sans Regular Bold"/>
                <a:ea typeface="Clear Sans Regular Bold"/>
                <a:cs typeface="Clear Sans Regular Bold"/>
                <a:sym typeface="Clear Sans Regular Bol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3113750" y="5143500"/>
            <a:ext cx="13391528" cy="4580799"/>
          </a:xfrm>
          <a:custGeom>
            <a:avLst/>
            <a:gdLst/>
            <a:ahLst/>
            <a:cxnLst/>
            <a:rect l="l" t="t" r="r" b="b"/>
            <a:pathLst>
              <a:path w="13391528" h="4580799">
                <a:moveTo>
                  <a:pt x="0" y="0"/>
                </a:moveTo>
                <a:lnTo>
                  <a:pt x="13391528" y="0"/>
                </a:lnTo>
                <a:lnTo>
                  <a:pt x="13391528" y="4580799"/>
                </a:lnTo>
                <a:lnTo>
                  <a:pt x="0" y="4580799"/>
                </a:lnTo>
                <a:lnTo>
                  <a:pt x="0" y="0"/>
                </a:lnTo>
                <a:close/>
              </a:path>
            </a:pathLst>
          </a:custGeom>
          <a:blipFill>
            <a:blip r:embed="rId2"/>
            <a:stretch>
              <a:fillRect/>
            </a:stretch>
          </a:blipFill>
        </p:spPr>
      </p:sp>
      <p:grpSp>
        <p:nvGrpSpPr>
          <p:cNvPr id="3" name="Group 3"/>
          <p:cNvGrpSpPr/>
          <p:nvPr/>
        </p:nvGrpSpPr>
        <p:grpSpPr>
          <a:xfrm>
            <a:off x="3422487" y="-603787"/>
            <a:ext cx="10310496" cy="2132444"/>
            <a:chOff x="0" y="0"/>
            <a:chExt cx="13747328" cy="2843258"/>
          </a:xfrm>
        </p:grpSpPr>
        <p:sp>
          <p:nvSpPr>
            <p:cNvPr id="4" name="TextBox 4"/>
            <p:cNvSpPr txBox="1"/>
            <p:nvPr/>
          </p:nvSpPr>
          <p:spPr>
            <a:xfrm>
              <a:off x="0" y="1368999"/>
              <a:ext cx="13747328" cy="1474259"/>
            </a:xfrm>
            <a:prstGeom prst="rect">
              <a:avLst/>
            </a:prstGeom>
          </p:spPr>
          <p:txBody>
            <a:bodyPr lIns="0" tIns="0" rIns="0" bIns="0" rtlCol="0" anchor="t">
              <a:spAutoFit/>
            </a:bodyPr>
            <a:lstStyle/>
            <a:p>
              <a:pPr algn="ctr">
                <a:lnSpc>
                  <a:spcPts val="8000"/>
                </a:lnSpc>
              </a:pPr>
              <a:r>
                <a:rPr lang="en-US" sz="8000" b="1">
                  <a:solidFill>
                    <a:srgbClr val="0D367B"/>
                  </a:solidFill>
                  <a:latin typeface="Clear Sans Bold"/>
                  <a:ea typeface="Clear Sans Bold"/>
                  <a:cs typeface="Clear Sans Bold"/>
                  <a:sym typeface="Clear Sans Bold"/>
                </a:rPr>
                <a:t>Dataset</a:t>
              </a:r>
            </a:p>
          </p:txBody>
        </p:sp>
        <p:sp>
          <p:nvSpPr>
            <p:cNvPr id="5" name="TextBox 5"/>
            <p:cNvSpPr txBox="1"/>
            <p:nvPr/>
          </p:nvSpPr>
          <p:spPr>
            <a:xfrm>
              <a:off x="0" y="-47625"/>
              <a:ext cx="13747328" cy="525145"/>
            </a:xfrm>
            <a:prstGeom prst="rect">
              <a:avLst/>
            </a:prstGeom>
          </p:spPr>
          <p:txBody>
            <a:bodyPr lIns="0" tIns="0" rIns="0" bIns="0" rtlCol="0" anchor="t">
              <a:spAutoFit/>
            </a:bodyPr>
            <a:lstStyle/>
            <a:p>
              <a:pPr algn="l">
                <a:lnSpc>
                  <a:spcPts val="3359"/>
                </a:lnSpc>
              </a:pPr>
              <a:endParaRPr/>
            </a:p>
          </p:txBody>
        </p:sp>
      </p:grpSp>
      <p:sp>
        <p:nvSpPr>
          <p:cNvPr id="6" name="TextBox 6"/>
          <p:cNvSpPr txBox="1"/>
          <p:nvPr/>
        </p:nvSpPr>
        <p:spPr>
          <a:xfrm>
            <a:off x="1028700" y="1856498"/>
            <a:ext cx="16398105" cy="2727326"/>
          </a:xfrm>
          <a:prstGeom prst="rect">
            <a:avLst/>
          </a:prstGeom>
        </p:spPr>
        <p:txBody>
          <a:bodyPr lIns="0" tIns="0" rIns="0" bIns="0" rtlCol="0" anchor="t">
            <a:spAutoFit/>
          </a:bodyPr>
          <a:lstStyle/>
          <a:p>
            <a:pPr algn="l">
              <a:lnSpc>
                <a:spcPts val="3649"/>
              </a:lnSpc>
            </a:pPr>
            <a:r>
              <a:rPr lang="en-US" sz="2499">
                <a:solidFill>
                  <a:srgbClr val="000000"/>
                </a:solidFill>
                <a:latin typeface="Clear Sans Bold"/>
                <a:ea typeface="Clear Sans Bold"/>
                <a:cs typeface="Clear Sans Bold"/>
                <a:sym typeface="Clear Sans Bold"/>
              </a:rPr>
              <a:t>Ce dataset est un tableau structuré de 918 observations et 12 colonnes, les colonnes incluent des informations comme l’âge, le sexe, le type de douleur thoracique, la pression artérielle, le cholestérol, la glycémie à jeun, et d’autres indicateurs médicaux, tandis que la colonne cible HeartDisease indique si le patient a une maladie cardiaque (1) ou non (0).</a:t>
            </a:r>
          </a:p>
          <a:p>
            <a:pPr algn="l">
              <a:lnSpc>
                <a:spcPts val="3649"/>
              </a:lnSpc>
            </a:pPr>
            <a:r>
              <a:rPr lang="en-US" sz="2499">
                <a:solidFill>
                  <a:srgbClr val="000000"/>
                </a:solidFill>
                <a:latin typeface="Clear Sans Bold"/>
                <a:ea typeface="Clear Sans Bold"/>
                <a:cs typeface="Clear Sans Bold"/>
                <a:sym typeface="Clear Sans Bold"/>
              </a:rPr>
              <a:t>L’objectif principal de ce dataset est de prédire la présence ou l’absence de maladie cardiaque chez un patient, afin de faciliter la détection précoce et la gestion des risques cardiovasculaires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3905428" y="1387091"/>
            <a:ext cx="10255224" cy="8709661"/>
          </a:xfrm>
          <a:custGeom>
            <a:avLst/>
            <a:gdLst/>
            <a:ahLst/>
            <a:cxnLst/>
            <a:rect l="l" t="t" r="r" b="b"/>
            <a:pathLst>
              <a:path w="10255224" h="8709661">
                <a:moveTo>
                  <a:pt x="0" y="0"/>
                </a:moveTo>
                <a:lnTo>
                  <a:pt x="10255224" y="0"/>
                </a:lnTo>
                <a:lnTo>
                  <a:pt x="10255224" y="8709661"/>
                </a:lnTo>
                <a:lnTo>
                  <a:pt x="0" y="8709661"/>
                </a:lnTo>
                <a:lnTo>
                  <a:pt x="0" y="0"/>
                </a:lnTo>
                <a:close/>
              </a:path>
            </a:pathLst>
          </a:custGeom>
          <a:blipFill>
            <a:blip r:embed="rId2"/>
            <a:stretch>
              <a:fillRect t="-400" b="-1128"/>
            </a:stretch>
          </a:blipFill>
        </p:spPr>
      </p:sp>
      <p:grpSp>
        <p:nvGrpSpPr>
          <p:cNvPr id="3" name="Group 3"/>
          <p:cNvGrpSpPr/>
          <p:nvPr/>
        </p:nvGrpSpPr>
        <p:grpSpPr>
          <a:xfrm>
            <a:off x="3238440" y="-910514"/>
            <a:ext cx="10310496" cy="2132444"/>
            <a:chOff x="0" y="0"/>
            <a:chExt cx="13747328" cy="2843258"/>
          </a:xfrm>
        </p:grpSpPr>
        <p:sp>
          <p:nvSpPr>
            <p:cNvPr id="4" name="TextBox 4"/>
            <p:cNvSpPr txBox="1"/>
            <p:nvPr/>
          </p:nvSpPr>
          <p:spPr>
            <a:xfrm>
              <a:off x="0" y="1368999"/>
              <a:ext cx="13747328" cy="1474259"/>
            </a:xfrm>
            <a:prstGeom prst="rect">
              <a:avLst/>
            </a:prstGeom>
          </p:spPr>
          <p:txBody>
            <a:bodyPr lIns="0" tIns="0" rIns="0" bIns="0" rtlCol="0" anchor="t">
              <a:spAutoFit/>
            </a:bodyPr>
            <a:lstStyle/>
            <a:p>
              <a:pPr algn="ctr">
                <a:lnSpc>
                  <a:spcPts val="8000"/>
                </a:lnSpc>
              </a:pPr>
              <a:r>
                <a:rPr lang="en-US" sz="8000" b="1">
                  <a:solidFill>
                    <a:srgbClr val="0D367B"/>
                  </a:solidFill>
                  <a:latin typeface="Clear Sans Bold"/>
                  <a:ea typeface="Clear Sans Bold"/>
                  <a:cs typeface="Clear Sans Bold"/>
                  <a:sym typeface="Clear Sans Bold"/>
                </a:rPr>
                <a:t>Les imports</a:t>
              </a:r>
            </a:p>
          </p:txBody>
        </p:sp>
        <p:sp>
          <p:nvSpPr>
            <p:cNvPr id="5" name="TextBox 5"/>
            <p:cNvSpPr txBox="1"/>
            <p:nvPr/>
          </p:nvSpPr>
          <p:spPr>
            <a:xfrm>
              <a:off x="0" y="-47625"/>
              <a:ext cx="13747328" cy="525145"/>
            </a:xfrm>
            <a:prstGeom prst="rect">
              <a:avLst/>
            </a:prstGeom>
          </p:spPr>
          <p:txBody>
            <a:bodyPr lIns="0" tIns="0" rIns="0" bIns="0" rtlCol="0" anchor="t">
              <a:spAutoFit/>
            </a:bodyPr>
            <a:lstStyle/>
            <a:p>
              <a:pPr algn="l">
                <a:lnSpc>
                  <a:spcPts val="33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1409313" y="3432621"/>
            <a:ext cx="15849987" cy="4888515"/>
          </a:xfrm>
          <a:custGeom>
            <a:avLst/>
            <a:gdLst/>
            <a:ahLst/>
            <a:cxnLst/>
            <a:rect l="l" t="t" r="r" b="b"/>
            <a:pathLst>
              <a:path w="15849987" h="4888515">
                <a:moveTo>
                  <a:pt x="0" y="0"/>
                </a:moveTo>
                <a:lnTo>
                  <a:pt x="15849987" y="0"/>
                </a:lnTo>
                <a:lnTo>
                  <a:pt x="15849987" y="4888515"/>
                </a:lnTo>
                <a:lnTo>
                  <a:pt x="0" y="4888515"/>
                </a:lnTo>
                <a:lnTo>
                  <a:pt x="0" y="0"/>
                </a:lnTo>
                <a:close/>
              </a:path>
            </a:pathLst>
          </a:custGeom>
          <a:blipFill>
            <a:blip r:embed="rId2"/>
            <a:stretch>
              <a:fillRect/>
            </a:stretch>
          </a:blipFill>
        </p:spPr>
      </p:sp>
      <p:grpSp>
        <p:nvGrpSpPr>
          <p:cNvPr id="3" name="Group 3"/>
          <p:cNvGrpSpPr/>
          <p:nvPr/>
        </p:nvGrpSpPr>
        <p:grpSpPr>
          <a:xfrm>
            <a:off x="2006825" y="-320654"/>
            <a:ext cx="13236198" cy="2132444"/>
            <a:chOff x="0" y="0"/>
            <a:chExt cx="17648265" cy="2843258"/>
          </a:xfrm>
        </p:grpSpPr>
        <p:sp>
          <p:nvSpPr>
            <p:cNvPr id="4" name="TextBox 4"/>
            <p:cNvSpPr txBox="1"/>
            <p:nvPr/>
          </p:nvSpPr>
          <p:spPr>
            <a:xfrm>
              <a:off x="0" y="1368999"/>
              <a:ext cx="17648265" cy="1474259"/>
            </a:xfrm>
            <a:prstGeom prst="rect">
              <a:avLst/>
            </a:prstGeom>
          </p:spPr>
          <p:txBody>
            <a:bodyPr lIns="0" tIns="0" rIns="0" bIns="0" rtlCol="0" anchor="t">
              <a:spAutoFit/>
            </a:bodyPr>
            <a:lstStyle/>
            <a:p>
              <a:pPr algn="ctr">
                <a:lnSpc>
                  <a:spcPts val="8000"/>
                </a:lnSpc>
              </a:pPr>
              <a:r>
                <a:rPr lang="en-US" sz="8000" b="1">
                  <a:solidFill>
                    <a:srgbClr val="0D367B"/>
                  </a:solidFill>
                  <a:latin typeface="Clear Sans Bold"/>
                  <a:ea typeface="Clear Sans Bold"/>
                  <a:cs typeface="Clear Sans Bold"/>
                  <a:sym typeface="Clear Sans Bold"/>
                </a:rPr>
                <a:t>Chargement et visualisation</a:t>
              </a:r>
            </a:p>
          </p:txBody>
        </p:sp>
        <p:sp>
          <p:nvSpPr>
            <p:cNvPr id="5" name="TextBox 5"/>
            <p:cNvSpPr txBox="1"/>
            <p:nvPr/>
          </p:nvSpPr>
          <p:spPr>
            <a:xfrm>
              <a:off x="0" y="-47625"/>
              <a:ext cx="17648265" cy="525145"/>
            </a:xfrm>
            <a:prstGeom prst="rect">
              <a:avLst/>
            </a:prstGeom>
          </p:spPr>
          <p:txBody>
            <a:bodyPr lIns="0" tIns="0" rIns="0" bIns="0" rtlCol="0" anchor="t">
              <a:spAutoFit/>
            </a:bodyPr>
            <a:lstStyle/>
            <a:p>
              <a:pPr algn="l">
                <a:lnSpc>
                  <a:spcPts val="3359"/>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1867971" y="2151454"/>
            <a:ext cx="15173562" cy="7890252"/>
          </a:xfrm>
          <a:custGeom>
            <a:avLst/>
            <a:gdLst/>
            <a:ahLst/>
            <a:cxnLst/>
            <a:rect l="l" t="t" r="r" b="b"/>
            <a:pathLst>
              <a:path w="15173562" h="7890252">
                <a:moveTo>
                  <a:pt x="0" y="0"/>
                </a:moveTo>
                <a:lnTo>
                  <a:pt x="15173562" y="0"/>
                </a:lnTo>
                <a:lnTo>
                  <a:pt x="15173562" y="7890252"/>
                </a:lnTo>
                <a:lnTo>
                  <a:pt x="0" y="7890252"/>
                </a:lnTo>
                <a:lnTo>
                  <a:pt x="0" y="0"/>
                </a:lnTo>
                <a:close/>
              </a:path>
            </a:pathLst>
          </a:custGeom>
          <a:blipFill>
            <a:blip r:embed="rId2"/>
            <a:stretch>
              <a:fillRect/>
            </a:stretch>
          </a:blipFill>
        </p:spPr>
      </p:sp>
      <p:grpSp>
        <p:nvGrpSpPr>
          <p:cNvPr id="3" name="Group 3"/>
          <p:cNvGrpSpPr/>
          <p:nvPr/>
        </p:nvGrpSpPr>
        <p:grpSpPr>
          <a:xfrm>
            <a:off x="2742958" y="-990640"/>
            <a:ext cx="12198046" cy="3142094"/>
            <a:chOff x="0" y="0"/>
            <a:chExt cx="16264061" cy="4189458"/>
          </a:xfrm>
        </p:grpSpPr>
        <p:sp>
          <p:nvSpPr>
            <p:cNvPr id="4" name="TextBox 4"/>
            <p:cNvSpPr txBox="1"/>
            <p:nvPr/>
          </p:nvSpPr>
          <p:spPr>
            <a:xfrm>
              <a:off x="0" y="1368999"/>
              <a:ext cx="16264061" cy="2820459"/>
            </a:xfrm>
            <a:prstGeom prst="rect">
              <a:avLst/>
            </a:prstGeom>
          </p:spPr>
          <p:txBody>
            <a:bodyPr lIns="0" tIns="0" rIns="0" bIns="0" rtlCol="0" anchor="t">
              <a:spAutoFit/>
            </a:bodyPr>
            <a:lstStyle/>
            <a:p>
              <a:pPr algn="ctr">
                <a:lnSpc>
                  <a:spcPts val="8000"/>
                </a:lnSpc>
              </a:pPr>
              <a:r>
                <a:rPr lang="en-US" sz="8000" b="1">
                  <a:solidFill>
                    <a:srgbClr val="0D367B"/>
                  </a:solidFill>
                  <a:latin typeface="Clear Sans Bold"/>
                  <a:ea typeface="Clear Sans Bold"/>
                  <a:cs typeface="Clear Sans Bold"/>
                  <a:sym typeface="Clear Sans Bold"/>
                </a:rPr>
                <a:t>Prétraitement des données</a:t>
              </a:r>
            </a:p>
          </p:txBody>
        </p:sp>
        <p:sp>
          <p:nvSpPr>
            <p:cNvPr id="5" name="TextBox 5"/>
            <p:cNvSpPr txBox="1"/>
            <p:nvPr/>
          </p:nvSpPr>
          <p:spPr>
            <a:xfrm>
              <a:off x="0" y="-47625"/>
              <a:ext cx="16264061" cy="525145"/>
            </a:xfrm>
            <a:prstGeom prst="rect">
              <a:avLst/>
            </a:prstGeom>
          </p:spPr>
          <p:txBody>
            <a:bodyPr lIns="0" tIns="0" rIns="0" bIns="0" rtlCol="0" anchor="t">
              <a:spAutoFit/>
            </a:bodyPr>
            <a:lstStyle/>
            <a:p>
              <a:pPr algn="l">
                <a:lnSpc>
                  <a:spcPts val="335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521966" y="2058392"/>
            <a:ext cx="17088193" cy="1602018"/>
          </a:xfrm>
          <a:custGeom>
            <a:avLst/>
            <a:gdLst/>
            <a:ahLst/>
            <a:cxnLst/>
            <a:rect l="l" t="t" r="r" b="b"/>
            <a:pathLst>
              <a:path w="17088193" h="1602018">
                <a:moveTo>
                  <a:pt x="0" y="0"/>
                </a:moveTo>
                <a:lnTo>
                  <a:pt x="17088194" y="0"/>
                </a:lnTo>
                <a:lnTo>
                  <a:pt x="17088194" y="1602019"/>
                </a:lnTo>
                <a:lnTo>
                  <a:pt x="0" y="1602019"/>
                </a:lnTo>
                <a:lnTo>
                  <a:pt x="0" y="0"/>
                </a:lnTo>
                <a:close/>
              </a:path>
            </a:pathLst>
          </a:custGeom>
          <a:blipFill>
            <a:blip r:embed="rId2"/>
            <a:stretch>
              <a:fillRect/>
            </a:stretch>
          </a:blipFill>
        </p:spPr>
      </p:sp>
      <p:grpSp>
        <p:nvGrpSpPr>
          <p:cNvPr id="3" name="Group 3"/>
          <p:cNvGrpSpPr/>
          <p:nvPr/>
        </p:nvGrpSpPr>
        <p:grpSpPr>
          <a:xfrm>
            <a:off x="2742958" y="-485815"/>
            <a:ext cx="12198046" cy="2132444"/>
            <a:chOff x="0" y="0"/>
            <a:chExt cx="16264061" cy="2843258"/>
          </a:xfrm>
        </p:grpSpPr>
        <p:sp>
          <p:nvSpPr>
            <p:cNvPr id="4" name="TextBox 4"/>
            <p:cNvSpPr txBox="1"/>
            <p:nvPr/>
          </p:nvSpPr>
          <p:spPr>
            <a:xfrm>
              <a:off x="0" y="1368999"/>
              <a:ext cx="16264061" cy="1474259"/>
            </a:xfrm>
            <a:prstGeom prst="rect">
              <a:avLst/>
            </a:prstGeom>
          </p:spPr>
          <p:txBody>
            <a:bodyPr lIns="0" tIns="0" rIns="0" bIns="0" rtlCol="0" anchor="t">
              <a:spAutoFit/>
            </a:bodyPr>
            <a:lstStyle/>
            <a:p>
              <a:pPr algn="ctr">
                <a:lnSpc>
                  <a:spcPts val="8000"/>
                </a:lnSpc>
              </a:pPr>
              <a:r>
                <a:rPr lang="en-US" sz="8000" b="1">
                  <a:solidFill>
                    <a:srgbClr val="0D367B"/>
                  </a:solidFill>
                  <a:latin typeface="Clear Sans Bold"/>
                  <a:ea typeface="Clear Sans Bold"/>
                  <a:cs typeface="Clear Sans Bold"/>
                  <a:sym typeface="Clear Sans Bold"/>
                </a:rPr>
                <a:t>Division des données</a:t>
              </a:r>
            </a:p>
          </p:txBody>
        </p:sp>
        <p:sp>
          <p:nvSpPr>
            <p:cNvPr id="5" name="TextBox 5"/>
            <p:cNvSpPr txBox="1"/>
            <p:nvPr/>
          </p:nvSpPr>
          <p:spPr>
            <a:xfrm>
              <a:off x="0" y="-47625"/>
              <a:ext cx="16264061" cy="525145"/>
            </a:xfrm>
            <a:prstGeom prst="rect">
              <a:avLst/>
            </a:prstGeom>
          </p:spPr>
          <p:txBody>
            <a:bodyPr lIns="0" tIns="0" rIns="0" bIns="0" rtlCol="0" anchor="t">
              <a:spAutoFit/>
            </a:bodyPr>
            <a:lstStyle/>
            <a:p>
              <a:pPr algn="l">
                <a:lnSpc>
                  <a:spcPts val="3359"/>
                </a:lnSpc>
              </a:pPr>
              <a:endParaRPr/>
            </a:p>
          </p:txBody>
        </p:sp>
      </p:grpSp>
      <p:sp>
        <p:nvSpPr>
          <p:cNvPr id="6" name="TextBox 6"/>
          <p:cNvSpPr txBox="1"/>
          <p:nvPr/>
        </p:nvSpPr>
        <p:spPr>
          <a:xfrm>
            <a:off x="521966" y="4509764"/>
            <a:ext cx="4441984" cy="633736"/>
          </a:xfrm>
          <a:prstGeom prst="rect">
            <a:avLst/>
          </a:prstGeom>
        </p:spPr>
        <p:txBody>
          <a:bodyPr lIns="0" tIns="0" rIns="0" bIns="0" rtlCol="0" anchor="t">
            <a:spAutoFit/>
          </a:bodyPr>
          <a:lstStyle/>
          <a:p>
            <a:pPr algn="ctr">
              <a:lnSpc>
                <a:spcPts val="4700"/>
              </a:lnSpc>
              <a:spcBef>
                <a:spcPct val="0"/>
              </a:spcBef>
            </a:pPr>
            <a:r>
              <a:rPr lang="en-US" sz="4700">
                <a:solidFill>
                  <a:srgbClr val="5994BE"/>
                </a:solidFill>
                <a:latin typeface="Clear Sans Bold"/>
                <a:ea typeface="Clear Sans Bold"/>
                <a:cs typeface="Clear Sans Bold"/>
                <a:sym typeface="Clear Sans Bold"/>
              </a:rPr>
              <a:t> les paramètres:</a:t>
            </a:r>
          </a:p>
        </p:txBody>
      </p:sp>
      <p:sp>
        <p:nvSpPr>
          <p:cNvPr id="7" name="TextBox 7"/>
          <p:cNvSpPr txBox="1"/>
          <p:nvPr/>
        </p:nvSpPr>
        <p:spPr>
          <a:xfrm>
            <a:off x="929146" y="5798886"/>
            <a:ext cx="16681013" cy="2094487"/>
          </a:xfrm>
          <a:prstGeom prst="rect">
            <a:avLst/>
          </a:prstGeom>
        </p:spPr>
        <p:txBody>
          <a:bodyPr lIns="0" tIns="0" rIns="0" bIns="0" rtlCol="0" anchor="t">
            <a:spAutoFit/>
          </a:bodyPr>
          <a:lstStyle/>
          <a:p>
            <a:pPr algn="l">
              <a:lnSpc>
                <a:spcPts val="5767"/>
              </a:lnSpc>
            </a:pPr>
            <a:r>
              <a:rPr lang="en-US" sz="2799">
                <a:solidFill>
                  <a:srgbClr val="000000"/>
                </a:solidFill>
                <a:latin typeface="Clear Sans Bold"/>
                <a:ea typeface="Clear Sans Bold"/>
                <a:cs typeface="Clear Sans Bold"/>
                <a:sym typeface="Clear Sans Bold"/>
              </a:rPr>
              <a:t>- test_size=0.2 : 20% des données pour le test, 80% pour l'entraînement</a:t>
            </a:r>
          </a:p>
          <a:p>
            <a:pPr algn="l">
              <a:lnSpc>
                <a:spcPts val="5767"/>
              </a:lnSpc>
            </a:pPr>
            <a:r>
              <a:rPr lang="en-US" sz="2799">
                <a:solidFill>
                  <a:srgbClr val="000000"/>
                </a:solidFill>
                <a:latin typeface="Clear Sans Bold"/>
                <a:ea typeface="Clear Sans Bold"/>
                <a:cs typeface="Clear Sans Bold"/>
                <a:sym typeface="Clear Sans Bold"/>
              </a:rPr>
              <a:t>- random_state=42 : Pour la reproductibilité des résultats</a:t>
            </a:r>
          </a:p>
          <a:p>
            <a:pPr algn="l">
              <a:lnSpc>
                <a:spcPts val="5767"/>
              </a:lnSpc>
            </a:pPr>
            <a:r>
              <a:rPr lang="en-US" sz="2799">
                <a:solidFill>
                  <a:srgbClr val="000000"/>
                </a:solidFill>
                <a:latin typeface="Clear Sans Bold"/>
                <a:ea typeface="Clear Sans Bold"/>
                <a:cs typeface="Clear Sans Bold"/>
                <a:sym typeface="Clear Sans Bold"/>
              </a:rPr>
              <a:t>- stratify=Y : Conserve la même proportion de classes (malade/non malade) dans les deux ensembles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2432196" y="1850199"/>
            <a:ext cx="13824712" cy="8041910"/>
          </a:xfrm>
          <a:custGeom>
            <a:avLst/>
            <a:gdLst/>
            <a:ahLst/>
            <a:cxnLst/>
            <a:rect l="l" t="t" r="r" b="b"/>
            <a:pathLst>
              <a:path w="13824712" h="8041910">
                <a:moveTo>
                  <a:pt x="0" y="0"/>
                </a:moveTo>
                <a:lnTo>
                  <a:pt x="13824712" y="0"/>
                </a:lnTo>
                <a:lnTo>
                  <a:pt x="13824712" y="8041910"/>
                </a:lnTo>
                <a:lnTo>
                  <a:pt x="0" y="8041910"/>
                </a:lnTo>
                <a:lnTo>
                  <a:pt x="0" y="0"/>
                </a:lnTo>
                <a:close/>
              </a:path>
            </a:pathLst>
          </a:custGeom>
          <a:blipFill>
            <a:blip r:embed="rId2"/>
            <a:stretch>
              <a:fillRect t="-1134" b="-1134"/>
            </a:stretch>
          </a:blipFill>
        </p:spPr>
      </p:sp>
      <p:grpSp>
        <p:nvGrpSpPr>
          <p:cNvPr id="3" name="Group 3"/>
          <p:cNvGrpSpPr/>
          <p:nvPr/>
        </p:nvGrpSpPr>
        <p:grpSpPr>
          <a:xfrm>
            <a:off x="1369776" y="-465894"/>
            <a:ext cx="15548447" cy="1903847"/>
            <a:chOff x="0" y="0"/>
            <a:chExt cx="20731263" cy="2538463"/>
          </a:xfrm>
        </p:grpSpPr>
        <p:sp>
          <p:nvSpPr>
            <p:cNvPr id="4" name="TextBox 4"/>
            <p:cNvSpPr txBox="1"/>
            <p:nvPr/>
          </p:nvSpPr>
          <p:spPr>
            <a:xfrm>
              <a:off x="0" y="1349949"/>
              <a:ext cx="20731263" cy="1188514"/>
            </a:xfrm>
            <a:prstGeom prst="rect">
              <a:avLst/>
            </a:prstGeom>
          </p:spPr>
          <p:txBody>
            <a:bodyPr lIns="0" tIns="0" rIns="0" bIns="0" rtlCol="0" anchor="t">
              <a:spAutoFit/>
            </a:bodyPr>
            <a:lstStyle/>
            <a:p>
              <a:pPr algn="ctr">
                <a:lnSpc>
                  <a:spcPts val="6500"/>
                </a:lnSpc>
              </a:pPr>
              <a:r>
                <a:rPr lang="en-US" sz="6500" b="1">
                  <a:solidFill>
                    <a:srgbClr val="0D367B"/>
                  </a:solidFill>
                  <a:latin typeface="Clear Sans Bold"/>
                  <a:ea typeface="Clear Sans Bold"/>
                  <a:cs typeface="Clear Sans Bold"/>
                  <a:sym typeface="Clear Sans Bold"/>
                </a:rPr>
                <a:t>Définition et entrainement des modèles</a:t>
              </a:r>
            </a:p>
          </p:txBody>
        </p:sp>
        <p:sp>
          <p:nvSpPr>
            <p:cNvPr id="5" name="TextBox 5"/>
            <p:cNvSpPr txBox="1"/>
            <p:nvPr/>
          </p:nvSpPr>
          <p:spPr>
            <a:xfrm>
              <a:off x="0" y="-47625"/>
              <a:ext cx="20731263" cy="525145"/>
            </a:xfrm>
            <a:prstGeom prst="rect">
              <a:avLst/>
            </a:prstGeom>
          </p:spPr>
          <p:txBody>
            <a:bodyPr lIns="0" tIns="0" rIns="0" bIns="0" rtlCol="0" anchor="t">
              <a:spAutoFit/>
            </a:bodyPr>
            <a:lstStyle/>
            <a:p>
              <a:pPr algn="l">
                <a:lnSpc>
                  <a:spcPts val="3359"/>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599988" y="3631954"/>
            <a:ext cx="17230433" cy="4455964"/>
          </a:xfrm>
          <a:custGeom>
            <a:avLst/>
            <a:gdLst/>
            <a:ahLst/>
            <a:cxnLst/>
            <a:rect l="l" t="t" r="r" b="b"/>
            <a:pathLst>
              <a:path w="17230433" h="4455964">
                <a:moveTo>
                  <a:pt x="0" y="0"/>
                </a:moveTo>
                <a:lnTo>
                  <a:pt x="17230433" y="0"/>
                </a:lnTo>
                <a:lnTo>
                  <a:pt x="17230433" y="4455964"/>
                </a:lnTo>
                <a:lnTo>
                  <a:pt x="0" y="4455964"/>
                </a:lnTo>
                <a:lnTo>
                  <a:pt x="0" y="0"/>
                </a:lnTo>
                <a:close/>
              </a:path>
            </a:pathLst>
          </a:custGeom>
          <a:blipFill>
            <a:blip r:embed="rId2"/>
            <a:stretch>
              <a:fillRect t="-537"/>
            </a:stretch>
          </a:blipFill>
        </p:spPr>
      </p:sp>
      <p:grpSp>
        <p:nvGrpSpPr>
          <p:cNvPr id="3" name="Group 3"/>
          <p:cNvGrpSpPr/>
          <p:nvPr/>
        </p:nvGrpSpPr>
        <p:grpSpPr>
          <a:xfrm>
            <a:off x="850700" y="218343"/>
            <a:ext cx="15548447" cy="1903847"/>
            <a:chOff x="0" y="0"/>
            <a:chExt cx="20731263" cy="2538463"/>
          </a:xfrm>
        </p:grpSpPr>
        <p:sp>
          <p:nvSpPr>
            <p:cNvPr id="4" name="TextBox 4"/>
            <p:cNvSpPr txBox="1"/>
            <p:nvPr/>
          </p:nvSpPr>
          <p:spPr>
            <a:xfrm>
              <a:off x="0" y="1349949"/>
              <a:ext cx="20731263" cy="1188514"/>
            </a:xfrm>
            <a:prstGeom prst="rect">
              <a:avLst/>
            </a:prstGeom>
          </p:spPr>
          <p:txBody>
            <a:bodyPr lIns="0" tIns="0" rIns="0" bIns="0" rtlCol="0" anchor="t">
              <a:spAutoFit/>
            </a:bodyPr>
            <a:lstStyle/>
            <a:p>
              <a:pPr algn="ctr">
                <a:lnSpc>
                  <a:spcPts val="6500"/>
                </a:lnSpc>
              </a:pPr>
              <a:r>
                <a:rPr lang="en-US" sz="6500" b="1" dirty="0">
                  <a:solidFill>
                    <a:srgbClr val="0D367B"/>
                  </a:solidFill>
                  <a:latin typeface="Clear Sans Bold"/>
                  <a:ea typeface="Clear Sans Bold"/>
                  <a:cs typeface="Clear Sans Bold"/>
                  <a:sym typeface="Clear Sans Bold"/>
                </a:rPr>
                <a:t>Evaluation du </a:t>
              </a:r>
              <a:r>
                <a:rPr lang="en-US" sz="6500" b="1" dirty="0" err="1">
                  <a:solidFill>
                    <a:srgbClr val="0D367B"/>
                  </a:solidFill>
                  <a:latin typeface="Clear Sans Bold"/>
                  <a:ea typeface="Clear Sans Bold"/>
                  <a:cs typeface="Clear Sans Bold"/>
                  <a:sym typeface="Clear Sans Bold"/>
                </a:rPr>
                <a:t>modèle</a:t>
              </a:r>
              <a:endParaRPr lang="en-US" sz="6500" b="1" dirty="0">
                <a:solidFill>
                  <a:srgbClr val="0D367B"/>
                </a:solidFill>
                <a:latin typeface="Clear Sans Bold"/>
                <a:ea typeface="Clear Sans Bold"/>
                <a:cs typeface="Clear Sans Bold"/>
                <a:sym typeface="Clear Sans Bold"/>
              </a:endParaRPr>
            </a:p>
          </p:txBody>
        </p:sp>
        <p:sp>
          <p:nvSpPr>
            <p:cNvPr id="5" name="TextBox 5"/>
            <p:cNvSpPr txBox="1"/>
            <p:nvPr/>
          </p:nvSpPr>
          <p:spPr>
            <a:xfrm>
              <a:off x="0" y="-47625"/>
              <a:ext cx="20731263" cy="525145"/>
            </a:xfrm>
            <a:prstGeom prst="rect">
              <a:avLst/>
            </a:prstGeom>
          </p:spPr>
          <p:txBody>
            <a:bodyPr lIns="0" tIns="0" rIns="0" bIns="0" rtlCol="0" anchor="t">
              <a:spAutoFit/>
            </a:bodyPr>
            <a:lstStyle/>
            <a:p>
              <a:pPr algn="l">
                <a:lnSpc>
                  <a:spcPts val="3359"/>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4114800" y="2571526"/>
            <a:ext cx="9829800" cy="7254331"/>
          </a:xfrm>
          <a:prstGeom prst="rect">
            <a:avLst/>
          </a:prstGeom>
        </p:spPr>
      </p:pic>
      <p:grpSp>
        <p:nvGrpSpPr>
          <p:cNvPr id="5" name="Group 3"/>
          <p:cNvGrpSpPr/>
          <p:nvPr/>
        </p:nvGrpSpPr>
        <p:grpSpPr>
          <a:xfrm>
            <a:off x="850700" y="218343"/>
            <a:ext cx="15548447" cy="1903847"/>
            <a:chOff x="0" y="0"/>
            <a:chExt cx="20731263" cy="2538463"/>
          </a:xfrm>
        </p:grpSpPr>
        <p:sp>
          <p:nvSpPr>
            <p:cNvPr id="6" name="TextBox 4"/>
            <p:cNvSpPr txBox="1"/>
            <p:nvPr/>
          </p:nvSpPr>
          <p:spPr>
            <a:xfrm>
              <a:off x="0" y="1349949"/>
              <a:ext cx="20731263" cy="1188514"/>
            </a:xfrm>
            <a:prstGeom prst="rect">
              <a:avLst/>
            </a:prstGeom>
          </p:spPr>
          <p:txBody>
            <a:bodyPr lIns="0" tIns="0" rIns="0" bIns="0" rtlCol="0" anchor="t">
              <a:spAutoFit/>
            </a:bodyPr>
            <a:lstStyle/>
            <a:p>
              <a:pPr algn="ctr">
                <a:lnSpc>
                  <a:spcPts val="6500"/>
                </a:lnSpc>
              </a:pPr>
              <a:r>
                <a:rPr lang="en-US" sz="6500" b="1" dirty="0">
                  <a:solidFill>
                    <a:srgbClr val="0D367B"/>
                  </a:solidFill>
                  <a:latin typeface="Clear Sans Bold"/>
                  <a:ea typeface="Clear Sans Bold"/>
                  <a:cs typeface="Clear Sans Bold"/>
                  <a:sym typeface="Clear Sans Bold"/>
                </a:rPr>
                <a:t>Evaluation du </a:t>
              </a:r>
              <a:r>
                <a:rPr lang="en-US" sz="6500" b="1" dirty="0" err="1">
                  <a:solidFill>
                    <a:srgbClr val="0D367B"/>
                  </a:solidFill>
                  <a:latin typeface="Clear Sans Bold"/>
                  <a:ea typeface="Clear Sans Bold"/>
                  <a:cs typeface="Clear Sans Bold"/>
                  <a:sym typeface="Clear Sans Bold"/>
                </a:rPr>
                <a:t>modèle</a:t>
              </a:r>
              <a:endParaRPr lang="en-US" sz="6500" b="1" dirty="0">
                <a:solidFill>
                  <a:srgbClr val="0D367B"/>
                </a:solidFill>
                <a:latin typeface="Clear Sans Bold"/>
                <a:ea typeface="Clear Sans Bold"/>
                <a:cs typeface="Clear Sans Bold"/>
                <a:sym typeface="Clear Sans Bold"/>
              </a:endParaRPr>
            </a:p>
          </p:txBody>
        </p:sp>
        <p:sp>
          <p:nvSpPr>
            <p:cNvPr id="7" name="TextBox 5"/>
            <p:cNvSpPr txBox="1"/>
            <p:nvPr/>
          </p:nvSpPr>
          <p:spPr>
            <a:xfrm>
              <a:off x="0" y="-47625"/>
              <a:ext cx="20731263" cy="525145"/>
            </a:xfrm>
            <a:prstGeom prst="rect">
              <a:avLst/>
            </a:prstGeom>
          </p:spPr>
          <p:txBody>
            <a:bodyPr lIns="0" tIns="0" rIns="0" bIns="0" rtlCol="0" anchor="t">
              <a:spAutoFit/>
            </a:bodyPr>
            <a:lstStyle/>
            <a:p>
              <a:pPr algn="l">
                <a:lnSpc>
                  <a:spcPts val="3359"/>
                </a:lnSpc>
              </a:pPr>
              <a:endParaRPr/>
            </a:p>
          </p:txBody>
        </p:sp>
      </p:grpSp>
    </p:spTree>
    <p:extLst>
      <p:ext uri="{BB962C8B-B14F-4D97-AF65-F5344CB8AC3E}">
        <p14:creationId xmlns:p14="http://schemas.microsoft.com/office/powerpoint/2010/main" val="3053429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1028700" y="2627760"/>
            <a:ext cx="15834737" cy="5031481"/>
          </a:xfrm>
          <a:custGeom>
            <a:avLst/>
            <a:gdLst/>
            <a:ahLst/>
            <a:cxnLst/>
            <a:rect l="l" t="t" r="r" b="b"/>
            <a:pathLst>
              <a:path w="15834737" h="5031481">
                <a:moveTo>
                  <a:pt x="0" y="0"/>
                </a:moveTo>
                <a:lnTo>
                  <a:pt x="15834737" y="0"/>
                </a:lnTo>
                <a:lnTo>
                  <a:pt x="15834737" y="5031480"/>
                </a:lnTo>
                <a:lnTo>
                  <a:pt x="0" y="5031480"/>
                </a:lnTo>
                <a:lnTo>
                  <a:pt x="0" y="0"/>
                </a:lnTo>
                <a:close/>
              </a:path>
            </a:pathLst>
          </a:custGeom>
          <a:blipFill>
            <a:blip r:embed="rId2"/>
            <a:stretch>
              <a:fillRect t="-3697" b="-3697"/>
            </a:stretch>
          </a:blipFill>
        </p:spPr>
      </p:sp>
      <p:grpSp>
        <p:nvGrpSpPr>
          <p:cNvPr id="3" name="Group 3"/>
          <p:cNvGrpSpPr/>
          <p:nvPr/>
        </p:nvGrpSpPr>
        <p:grpSpPr>
          <a:xfrm>
            <a:off x="1028700" y="-606300"/>
            <a:ext cx="15548447" cy="1903847"/>
            <a:chOff x="0" y="0"/>
            <a:chExt cx="20731263" cy="2538463"/>
          </a:xfrm>
        </p:grpSpPr>
        <p:sp>
          <p:nvSpPr>
            <p:cNvPr id="4" name="TextBox 4"/>
            <p:cNvSpPr txBox="1"/>
            <p:nvPr/>
          </p:nvSpPr>
          <p:spPr>
            <a:xfrm>
              <a:off x="0" y="1349949"/>
              <a:ext cx="20731263" cy="1188514"/>
            </a:xfrm>
            <a:prstGeom prst="rect">
              <a:avLst/>
            </a:prstGeom>
          </p:spPr>
          <p:txBody>
            <a:bodyPr lIns="0" tIns="0" rIns="0" bIns="0" rtlCol="0" anchor="t">
              <a:spAutoFit/>
            </a:bodyPr>
            <a:lstStyle/>
            <a:p>
              <a:pPr algn="ctr">
                <a:lnSpc>
                  <a:spcPts val="6500"/>
                </a:lnSpc>
              </a:pPr>
              <a:r>
                <a:rPr lang="en-US" sz="6500" b="1">
                  <a:solidFill>
                    <a:srgbClr val="0D367B"/>
                  </a:solidFill>
                  <a:latin typeface="Clear Sans Bold"/>
                  <a:ea typeface="Clear Sans Bold"/>
                  <a:cs typeface="Clear Sans Bold"/>
                  <a:sym typeface="Clear Sans Bold"/>
                </a:rPr>
                <a:t>Comparaison entre les modèles</a:t>
              </a:r>
            </a:p>
          </p:txBody>
        </p:sp>
        <p:sp>
          <p:nvSpPr>
            <p:cNvPr id="5" name="TextBox 5"/>
            <p:cNvSpPr txBox="1"/>
            <p:nvPr/>
          </p:nvSpPr>
          <p:spPr>
            <a:xfrm>
              <a:off x="0" y="-47625"/>
              <a:ext cx="20731263" cy="525145"/>
            </a:xfrm>
            <a:prstGeom prst="rect">
              <a:avLst/>
            </a:prstGeom>
          </p:spPr>
          <p:txBody>
            <a:bodyPr lIns="0" tIns="0" rIns="0" bIns="0" rtlCol="0" anchor="t">
              <a:spAutoFit/>
            </a:bodyPr>
            <a:lstStyle/>
            <a:p>
              <a:pPr algn="l">
                <a:lnSpc>
                  <a:spcPts val="3359"/>
                </a:lnSpc>
              </a:pPr>
              <a:endParaRPr/>
            </a:p>
          </p:txBody>
        </p:sp>
      </p:grpSp>
      <p:sp>
        <p:nvSpPr>
          <p:cNvPr id="6" name="TextBox 6"/>
          <p:cNvSpPr txBox="1"/>
          <p:nvPr/>
        </p:nvSpPr>
        <p:spPr>
          <a:xfrm>
            <a:off x="1279609" y="7145205"/>
            <a:ext cx="13548511" cy="3563113"/>
          </a:xfrm>
          <a:prstGeom prst="rect">
            <a:avLst/>
          </a:prstGeom>
        </p:spPr>
        <p:txBody>
          <a:bodyPr lIns="0" tIns="0" rIns="0" bIns="0" rtlCol="0" anchor="t">
            <a:spAutoFit/>
          </a:bodyPr>
          <a:lstStyle/>
          <a:p>
            <a:pPr algn="l">
              <a:lnSpc>
                <a:spcPts val="4325"/>
              </a:lnSpc>
            </a:pPr>
            <a:r>
              <a:rPr lang="en-US" sz="2099">
                <a:solidFill>
                  <a:srgbClr val="000000"/>
                </a:solidFill>
                <a:latin typeface="Clear Sans Bold"/>
                <a:ea typeface="Clear Sans Bold"/>
                <a:cs typeface="Clear Sans Bold"/>
                <a:sym typeface="Clear Sans Bold"/>
              </a:rPr>
              <a:t>Naive Bayes</a:t>
            </a:r>
          </a:p>
          <a:p>
            <a:pPr marL="453385" lvl="1" indent="-226693" algn="l">
              <a:lnSpc>
                <a:spcPts val="4325"/>
              </a:lnSpc>
              <a:buFont typeface="Arial"/>
              <a:buChar char="•"/>
            </a:pPr>
            <a:r>
              <a:rPr lang="en-US" sz="2099">
                <a:solidFill>
                  <a:srgbClr val="000000"/>
                </a:solidFill>
                <a:latin typeface="Clear Sans Bold"/>
                <a:ea typeface="Clear Sans Bold"/>
                <a:cs typeface="Clear Sans Bold"/>
                <a:sym typeface="Clear Sans Bold"/>
              </a:rPr>
              <a:t>93 VP : patients étaient réellement malades et le modèle l’a bien prédit.</a:t>
            </a:r>
          </a:p>
          <a:p>
            <a:pPr marL="453385" lvl="1" indent="-226693" algn="l">
              <a:lnSpc>
                <a:spcPts val="4325"/>
              </a:lnSpc>
              <a:buFont typeface="Arial"/>
              <a:buChar char="•"/>
            </a:pPr>
            <a:r>
              <a:rPr lang="en-US" sz="2099">
                <a:solidFill>
                  <a:srgbClr val="000000"/>
                </a:solidFill>
                <a:latin typeface="Clear Sans Bold"/>
                <a:ea typeface="Clear Sans Bold"/>
                <a:cs typeface="Clear Sans Bold"/>
                <a:sym typeface="Clear Sans Bold"/>
              </a:rPr>
              <a:t>11 FP : erreurs en classant des personnes saines comme malades.</a:t>
            </a:r>
          </a:p>
          <a:p>
            <a:pPr marL="453385" lvl="1" indent="-226693" algn="l">
              <a:lnSpc>
                <a:spcPts val="4325"/>
              </a:lnSpc>
              <a:buFont typeface="Arial"/>
              <a:buChar char="•"/>
            </a:pPr>
            <a:r>
              <a:rPr lang="en-US" sz="2099">
                <a:solidFill>
                  <a:srgbClr val="000000"/>
                </a:solidFill>
                <a:latin typeface="Clear Sans Bold"/>
                <a:ea typeface="Clear Sans Bold"/>
                <a:cs typeface="Clear Sans Bold"/>
                <a:sym typeface="Clear Sans Bold"/>
              </a:rPr>
              <a:t>71 VN : le modèle a bien identifié une personne comme saine.</a:t>
            </a:r>
          </a:p>
          <a:p>
            <a:pPr marL="453385" lvl="1" indent="-226693" algn="l">
              <a:lnSpc>
                <a:spcPts val="4325"/>
              </a:lnSpc>
              <a:buFont typeface="Arial"/>
              <a:buChar char="•"/>
            </a:pPr>
            <a:r>
              <a:rPr lang="en-US" sz="2099">
                <a:solidFill>
                  <a:srgbClr val="000000"/>
                </a:solidFill>
                <a:latin typeface="Clear Sans Bold"/>
                <a:ea typeface="Clear Sans Bold"/>
                <a:cs typeface="Clear Sans Bold"/>
                <a:sym typeface="Clear Sans Bold"/>
              </a:rPr>
              <a:t>11 FN : la personne est vraiment malade, mais le modèle a prédit qu’elle était saine.</a:t>
            </a:r>
          </a:p>
          <a:p>
            <a:pPr algn="l">
              <a:lnSpc>
                <a:spcPts val="4325"/>
              </a:lnSpc>
            </a:pPr>
            <a:endParaRPr lang="en-US" sz="2099">
              <a:solidFill>
                <a:srgbClr val="000000"/>
              </a:solidFill>
              <a:latin typeface="Clear Sans Bold"/>
              <a:ea typeface="Clear Sans Bold"/>
              <a:cs typeface="Clear Sans Bold"/>
              <a:sym typeface="Clear Sans Bold"/>
            </a:endParaRPr>
          </a:p>
          <a:p>
            <a:pPr algn="l">
              <a:lnSpc>
                <a:spcPts val="2472"/>
              </a:lnSpc>
            </a:pPr>
            <a:endParaRPr lang="en-US" sz="2099">
              <a:solidFill>
                <a:srgbClr val="000000"/>
              </a:solidFill>
              <a:latin typeface="Clear Sans Bold"/>
              <a:ea typeface="Clear Sans Bold"/>
              <a:cs typeface="Clear Sans Bold"/>
              <a:sym typeface="Clear Sans Bold"/>
            </a:endParaRPr>
          </a:p>
        </p:txBody>
      </p:sp>
      <p:sp>
        <p:nvSpPr>
          <p:cNvPr id="7" name="TextBox 7"/>
          <p:cNvSpPr txBox="1"/>
          <p:nvPr/>
        </p:nvSpPr>
        <p:spPr>
          <a:xfrm>
            <a:off x="409114" y="6704080"/>
            <a:ext cx="4460677" cy="414654"/>
          </a:xfrm>
          <a:prstGeom prst="rect">
            <a:avLst/>
          </a:prstGeom>
        </p:spPr>
        <p:txBody>
          <a:bodyPr lIns="0" tIns="0" rIns="0" bIns="0" rtlCol="0" anchor="t">
            <a:spAutoFit/>
          </a:bodyPr>
          <a:lstStyle/>
          <a:p>
            <a:pPr algn="ctr">
              <a:lnSpc>
                <a:spcPts val="3199"/>
              </a:lnSpc>
              <a:spcBef>
                <a:spcPct val="0"/>
              </a:spcBef>
            </a:pPr>
            <a:r>
              <a:rPr lang="en-US" sz="3199">
                <a:solidFill>
                  <a:srgbClr val="5994BE"/>
                </a:solidFill>
                <a:latin typeface="Clear Sans Bold"/>
                <a:ea typeface="Clear Sans Bold"/>
                <a:cs typeface="Clear Sans Bold"/>
                <a:sym typeface="Clear Sans Bold"/>
              </a:rPr>
              <a:t>Exemples explicatives ::</a:t>
            </a:r>
          </a:p>
        </p:txBody>
      </p:sp>
      <p:sp>
        <p:nvSpPr>
          <p:cNvPr id="8" name="TextBox 8"/>
          <p:cNvSpPr txBox="1"/>
          <p:nvPr/>
        </p:nvSpPr>
        <p:spPr>
          <a:xfrm>
            <a:off x="1028700" y="1326122"/>
            <a:ext cx="13548511" cy="2666238"/>
          </a:xfrm>
          <a:prstGeom prst="rect">
            <a:avLst/>
          </a:prstGeom>
        </p:spPr>
        <p:txBody>
          <a:bodyPr lIns="0" tIns="0" rIns="0" bIns="0" rtlCol="0" anchor="t">
            <a:spAutoFit/>
          </a:bodyPr>
          <a:lstStyle/>
          <a:p>
            <a:pPr algn="l">
              <a:lnSpc>
                <a:spcPts val="4326"/>
              </a:lnSpc>
            </a:pPr>
            <a:r>
              <a:rPr lang="en-US" sz="2100">
                <a:solidFill>
                  <a:srgbClr val="000000"/>
                </a:solidFill>
                <a:latin typeface="Clear Sans Bold"/>
                <a:ea typeface="Clear Sans Bold"/>
                <a:cs typeface="Clear Sans Bold"/>
                <a:sym typeface="Clear Sans Bold"/>
              </a:rPr>
              <a:t>on applique ces formules:       VP = Recall × Support</a:t>
            </a:r>
          </a:p>
          <a:p>
            <a:pPr marL="3627120" lvl="8" indent="-403013" algn="l">
              <a:lnSpc>
                <a:spcPts val="4326"/>
              </a:lnSpc>
              <a:buFont typeface="Arial"/>
              <a:buChar char="⚬"/>
            </a:pPr>
            <a:r>
              <a:rPr lang="en-US" sz="2100">
                <a:solidFill>
                  <a:srgbClr val="000000"/>
                </a:solidFill>
                <a:latin typeface="Clear Sans Bold"/>
                <a:ea typeface="Clear Sans Bold"/>
                <a:cs typeface="Clear Sans Bold"/>
                <a:sym typeface="Clear Sans Bold"/>
              </a:rPr>
              <a:t>FN = Support − VP</a:t>
            </a:r>
          </a:p>
          <a:p>
            <a:pPr marL="3627120" lvl="8" indent="-403013" algn="l">
              <a:lnSpc>
                <a:spcPts val="4326"/>
              </a:lnSpc>
              <a:buFont typeface="Arial"/>
              <a:buChar char="⚬"/>
            </a:pPr>
            <a:r>
              <a:rPr lang="en-US" sz="2100">
                <a:solidFill>
                  <a:srgbClr val="000000"/>
                </a:solidFill>
                <a:latin typeface="Clear Sans Bold"/>
                <a:ea typeface="Clear Sans Bold"/>
                <a:cs typeface="Clear Sans Bold"/>
                <a:sym typeface="Clear Sans Bold"/>
              </a:rPr>
              <a:t>FP = VP × (1 - Precision) / Precision</a:t>
            </a:r>
          </a:p>
          <a:p>
            <a:pPr marL="3627120" lvl="8" indent="-403013" algn="l">
              <a:lnSpc>
                <a:spcPts val="4326"/>
              </a:lnSpc>
              <a:buFont typeface="Arial"/>
              <a:buChar char="⚬"/>
            </a:pPr>
            <a:r>
              <a:rPr lang="en-US" sz="2100">
                <a:solidFill>
                  <a:srgbClr val="000000"/>
                </a:solidFill>
                <a:latin typeface="Clear Sans Bold"/>
                <a:ea typeface="Clear Sans Bold"/>
                <a:cs typeface="Clear Sans Bold"/>
                <a:sym typeface="Clear Sans Bold"/>
              </a:rPr>
              <a:t>VN = FP / (1 - Specificity)</a:t>
            </a:r>
          </a:p>
          <a:p>
            <a:pPr algn="l">
              <a:lnSpc>
                <a:spcPts val="4326"/>
              </a:lnSpc>
            </a:pPr>
            <a:endParaRPr lang="en-US" sz="2100">
              <a:solidFill>
                <a:srgbClr val="000000"/>
              </a:solidFill>
              <a:latin typeface="Clear Sans Bold"/>
              <a:ea typeface="Clear Sans Bold"/>
              <a:cs typeface="Clear Sans Bold"/>
              <a:sym typeface="Clear Sans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grpSp>
        <p:nvGrpSpPr>
          <p:cNvPr id="3" name="Group 3"/>
          <p:cNvGrpSpPr/>
          <p:nvPr/>
        </p:nvGrpSpPr>
        <p:grpSpPr>
          <a:xfrm>
            <a:off x="1028700" y="-678244"/>
            <a:ext cx="15548447" cy="1903847"/>
            <a:chOff x="0" y="0"/>
            <a:chExt cx="20731263" cy="2538463"/>
          </a:xfrm>
        </p:grpSpPr>
        <p:sp>
          <p:nvSpPr>
            <p:cNvPr id="4" name="TextBox 4"/>
            <p:cNvSpPr txBox="1"/>
            <p:nvPr/>
          </p:nvSpPr>
          <p:spPr>
            <a:xfrm>
              <a:off x="0" y="1349949"/>
              <a:ext cx="20731263" cy="1188514"/>
            </a:xfrm>
            <a:prstGeom prst="rect">
              <a:avLst/>
            </a:prstGeom>
          </p:spPr>
          <p:txBody>
            <a:bodyPr lIns="0" tIns="0" rIns="0" bIns="0" rtlCol="0" anchor="t">
              <a:spAutoFit/>
            </a:bodyPr>
            <a:lstStyle/>
            <a:p>
              <a:pPr algn="ctr">
                <a:lnSpc>
                  <a:spcPts val="6500"/>
                </a:lnSpc>
              </a:pPr>
              <a:r>
                <a:rPr lang="en-US" sz="6500" b="1" dirty="0">
                  <a:solidFill>
                    <a:srgbClr val="0D367B"/>
                  </a:solidFill>
                  <a:latin typeface="Clear Sans Bold"/>
                  <a:ea typeface="Clear Sans Bold"/>
                  <a:cs typeface="Clear Sans Bold"/>
                  <a:sym typeface="Clear Sans Bold"/>
                </a:rPr>
                <a:t>Amelioration</a:t>
              </a:r>
            </a:p>
          </p:txBody>
        </p:sp>
        <p:sp>
          <p:nvSpPr>
            <p:cNvPr id="5" name="TextBox 5"/>
            <p:cNvSpPr txBox="1"/>
            <p:nvPr/>
          </p:nvSpPr>
          <p:spPr>
            <a:xfrm>
              <a:off x="0" y="-47625"/>
              <a:ext cx="20731263" cy="525145"/>
            </a:xfrm>
            <a:prstGeom prst="rect">
              <a:avLst/>
            </a:prstGeom>
          </p:spPr>
          <p:txBody>
            <a:bodyPr lIns="0" tIns="0" rIns="0" bIns="0" rtlCol="0" anchor="t">
              <a:spAutoFit/>
            </a:bodyPr>
            <a:lstStyle/>
            <a:p>
              <a:pPr algn="l">
                <a:lnSpc>
                  <a:spcPts val="3359"/>
                </a:lnSpc>
              </a:pPr>
              <a:endParaRPr/>
            </a:p>
          </p:txBody>
        </p:sp>
      </p:grpSp>
      <p:pic>
        <p:nvPicPr>
          <p:cNvPr id="7" name="Image 6"/>
          <p:cNvPicPr>
            <a:picLocks noChangeAspect="1"/>
          </p:cNvPicPr>
          <p:nvPr/>
        </p:nvPicPr>
        <p:blipFill>
          <a:blip r:embed="rId2"/>
          <a:stretch>
            <a:fillRect/>
          </a:stretch>
        </p:blipFill>
        <p:spPr>
          <a:xfrm>
            <a:off x="2667000" y="1296906"/>
            <a:ext cx="12649199" cy="89866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28600" y="2019300"/>
            <a:ext cx="17782472" cy="7086599"/>
          </a:xfrm>
          <a:prstGeom prst="rect">
            <a:avLst/>
          </a:prstGeom>
        </p:spPr>
      </p:pic>
      <p:grpSp>
        <p:nvGrpSpPr>
          <p:cNvPr id="4" name="Group 3"/>
          <p:cNvGrpSpPr/>
          <p:nvPr/>
        </p:nvGrpSpPr>
        <p:grpSpPr>
          <a:xfrm>
            <a:off x="1028700" y="-678244"/>
            <a:ext cx="15548447" cy="1903847"/>
            <a:chOff x="0" y="0"/>
            <a:chExt cx="20731263" cy="2538463"/>
          </a:xfrm>
        </p:grpSpPr>
        <p:sp>
          <p:nvSpPr>
            <p:cNvPr id="5" name="TextBox 4"/>
            <p:cNvSpPr txBox="1"/>
            <p:nvPr/>
          </p:nvSpPr>
          <p:spPr>
            <a:xfrm>
              <a:off x="0" y="1349949"/>
              <a:ext cx="20731263" cy="1188514"/>
            </a:xfrm>
            <a:prstGeom prst="rect">
              <a:avLst/>
            </a:prstGeom>
          </p:spPr>
          <p:txBody>
            <a:bodyPr lIns="0" tIns="0" rIns="0" bIns="0" rtlCol="0" anchor="t">
              <a:spAutoFit/>
            </a:bodyPr>
            <a:lstStyle/>
            <a:p>
              <a:pPr algn="ctr">
                <a:lnSpc>
                  <a:spcPts val="6500"/>
                </a:lnSpc>
              </a:pPr>
              <a:r>
                <a:rPr lang="en-US" sz="6500" b="1" dirty="0">
                  <a:solidFill>
                    <a:srgbClr val="0D367B"/>
                  </a:solidFill>
                  <a:latin typeface="Clear Sans Bold"/>
                  <a:ea typeface="Clear Sans Bold"/>
                  <a:cs typeface="Clear Sans Bold"/>
                  <a:sym typeface="Clear Sans Bold"/>
                </a:rPr>
                <a:t>Amelioration</a:t>
              </a:r>
            </a:p>
          </p:txBody>
        </p:sp>
        <p:sp>
          <p:nvSpPr>
            <p:cNvPr id="6" name="TextBox 5"/>
            <p:cNvSpPr txBox="1"/>
            <p:nvPr/>
          </p:nvSpPr>
          <p:spPr>
            <a:xfrm>
              <a:off x="0" y="-47625"/>
              <a:ext cx="20731263" cy="525145"/>
            </a:xfrm>
            <a:prstGeom prst="rect">
              <a:avLst/>
            </a:prstGeom>
          </p:spPr>
          <p:txBody>
            <a:bodyPr lIns="0" tIns="0" rIns="0" bIns="0" rtlCol="0" anchor="t">
              <a:spAutoFit/>
            </a:bodyPr>
            <a:lstStyle/>
            <a:p>
              <a:pPr algn="l">
                <a:lnSpc>
                  <a:spcPts val="3359"/>
                </a:lnSpc>
              </a:pPr>
              <a:endParaRPr/>
            </a:p>
          </p:txBody>
        </p:sp>
      </p:grpSp>
    </p:spTree>
    <p:extLst>
      <p:ext uri="{BB962C8B-B14F-4D97-AF65-F5344CB8AC3E}">
        <p14:creationId xmlns:p14="http://schemas.microsoft.com/office/powerpoint/2010/main" val="294246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718059" y="1588539"/>
            <a:ext cx="16851883" cy="7484282"/>
          </a:xfrm>
          <a:custGeom>
            <a:avLst/>
            <a:gdLst/>
            <a:ahLst/>
            <a:cxnLst/>
            <a:rect l="l" t="t" r="r" b="b"/>
            <a:pathLst>
              <a:path w="16851883" h="7484282">
                <a:moveTo>
                  <a:pt x="0" y="0"/>
                </a:moveTo>
                <a:lnTo>
                  <a:pt x="16851882" y="0"/>
                </a:lnTo>
                <a:lnTo>
                  <a:pt x="16851882" y="7484282"/>
                </a:lnTo>
                <a:lnTo>
                  <a:pt x="0" y="7484282"/>
                </a:lnTo>
                <a:lnTo>
                  <a:pt x="0" y="0"/>
                </a:lnTo>
                <a:close/>
              </a:path>
            </a:pathLst>
          </a:custGeom>
          <a:blipFill>
            <a:blip r:embed="rId2"/>
            <a:stretch>
              <a:fillRect l="-325" r="-325"/>
            </a:stretch>
          </a:blipFill>
        </p:spPr>
      </p:sp>
      <p:grpSp>
        <p:nvGrpSpPr>
          <p:cNvPr id="3" name="Group 3"/>
          <p:cNvGrpSpPr/>
          <p:nvPr/>
        </p:nvGrpSpPr>
        <p:grpSpPr>
          <a:xfrm>
            <a:off x="1028700" y="-678244"/>
            <a:ext cx="15548447" cy="1903847"/>
            <a:chOff x="0" y="0"/>
            <a:chExt cx="20731263" cy="2538463"/>
          </a:xfrm>
        </p:grpSpPr>
        <p:sp>
          <p:nvSpPr>
            <p:cNvPr id="4" name="TextBox 4"/>
            <p:cNvSpPr txBox="1"/>
            <p:nvPr/>
          </p:nvSpPr>
          <p:spPr>
            <a:xfrm>
              <a:off x="0" y="1349949"/>
              <a:ext cx="20731263" cy="1188514"/>
            </a:xfrm>
            <a:prstGeom prst="rect">
              <a:avLst/>
            </a:prstGeom>
          </p:spPr>
          <p:txBody>
            <a:bodyPr lIns="0" tIns="0" rIns="0" bIns="0" rtlCol="0" anchor="t">
              <a:spAutoFit/>
            </a:bodyPr>
            <a:lstStyle/>
            <a:p>
              <a:pPr algn="ctr">
                <a:lnSpc>
                  <a:spcPts val="6500"/>
                </a:lnSpc>
              </a:pPr>
              <a:r>
                <a:rPr lang="en-US" sz="6500" b="1">
                  <a:solidFill>
                    <a:srgbClr val="0D367B"/>
                  </a:solidFill>
                  <a:latin typeface="Clear Sans Bold"/>
                  <a:ea typeface="Clear Sans Bold"/>
                  <a:cs typeface="Clear Sans Bold"/>
                  <a:sym typeface="Clear Sans Bold"/>
                </a:rPr>
                <a:t>Interface</a:t>
              </a:r>
            </a:p>
          </p:txBody>
        </p:sp>
        <p:sp>
          <p:nvSpPr>
            <p:cNvPr id="5" name="TextBox 5"/>
            <p:cNvSpPr txBox="1"/>
            <p:nvPr/>
          </p:nvSpPr>
          <p:spPr>
            <a:xfrm>
              <a:off x="0" y="-47625"/>
              <a:ext cx="20731263" cy="525145"/>
            </a:xfrm>
            <a:prstGeom prst="rect">
              <a:avLst/>
            </a:prstGeom>
          </p:spPr>
          <p:txBody>
            <a:bodyPr lIns="0" tIns="0" rIns="0" bIns="0" rtlCol="0" anchor="t">
              <a:spAutoFit/>
            </a:bodyPr>
            <a:lstStyle/>
            <a:p>
              <a:pPr algn="l">
                <a:lnSpc>
                  <a:spcPts val="3359"/>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EFE"/>
        </a:solidFill>
        <a:effectLst/>
      </p:bgPr>
    </p:bg>
    <p:spTree>
      <p:nvGrpSpPr>
        <p:cNvPr id="1" name=""/>
        <p:cNvGrpSpPr/>
        <p:nvPr/>
      </p:nvGrpSpPr>
      <p:grpSpPr>
        <a:xfrm>
          <a:off x="0" y="0"/>
          <a:ext cx="0" cy="0"/>
          <a:chOff x="0" y="0"/>
          <a:chExt cx="0" cy="0"/>
        </a:xfrm>
      </p:grpSpPr>
      <p:sp>
        <p:nvSpPr>
          <p:cNvPr id="2" name="Freeform 2"/>
          <p:cNvSpPr/>
          <p:nvPr/>
        </p:nvSpPr>
        <p:spPr>
          <a:xfrm>
            <a:off x="749077" y="1592876"/>
            <a:ext cx="16789846" cy="7828266"/>
          </a:xfrm>
          <a:custGeom>
            <a:avLst/>
            <a:gdLst/>
            <a:ahLst/>
            <a:cxnLst/>
            <a:rect l="l" t="t" r="r" b="b"/>
            <a:pathLst>
              <a:path w="16789846" h="7828266">
                <a:moveTo>
                  <a:pt x="0" y="0"/>
                </a:moveTo>
                <a:lnTo>
                  <a:pt x="16789846" y="0"/>
                </a:lnTo>
                <a:lnTo>
                  <a:pt x="16789846" y="7828266"/>
                </a:lnTo>
                <a:lnTo>
                  <a:pt x="0" y="7828266"/>
                </a:lnTo>
                <a:lnTo>
                  <a:pt x="0" y="0"/>
                </a:lnTo>
                <a:close/>
              </a:path>
            </a:pathLst>
          </a:custGeom>
          <a:blipFill>
            <a:blip r:embed="rId2"/>
            <a:stretch>
              <a:fillRect/>
            </a:stretch>
          </a:blipFill>
        </p:spPr>
      </p:sp>
      <p:grpSp>
        <p:nvGrpSpPr>
          <p:cNvPr id="3" name="Group 3"/>
          <p:cNvGrpSpPr/>
          <p:nvPr/>
        </p:nvGrpSpPr>
        <p:grpSpPr>
          <a:xfrm>
            <a:off x="1028700" y="-678244"/>
            <a:ext cx="15548447" cy="1903847"/>
            <a:chOff x="0" y="0"/>
            <a:chExt cx="20731263" cy="2538463"/>
          </a:xfrm>
        </p:grpSpPr>
        <p:sp>
          <p:nvSpPr>
            <p:cNvPr id="4" name="TextBox 4"/>
            <p:cNvSpPr txBox="1"/>
            <p:nvPr/>
          </p:nvSpPr>
          <p:spPr>
            <a:xfrm>
              <a:off x="0" y="1349949"/>
              <a:ext cx="20731263" cy="1188514"/>
            </a:xfrm>
            <a:prstGeom prst="rect">
              <a:avLst/>
            </a:prstGeom>
          </p:spPr>
          <p:txBody>
            <a:bodyPr lIns="0" tIns="0" rIns="0" bIns="0" rtlCol="0" anchor="t">
              <a:spAutoFit/>
            </a:bodyPr>
            <a:lstStyle/>
            <a:p>
              <a:pPr algn="ctr">
                <a:lnSpc>
                  <a:spcPts val="6500"/>
                </a:lnSpc>
              </a:pPr>
              <a:r>
                <a:rPr lang="en-US" sz="6500" b="1">
                  <a:solidFill>
                    <a:srgbClr val="0D367B"/>
                  </a:solidFill>
                  <a:latin typeface="Clear Sans Bold"/>
                  <a:ea typeface="Clear Sans Bold"/>
                  <a:cs typeface="Clear Sans Bold"/>
                  <a:sym typeface="Clear Sans Bold"/>
                </a:rPr>
                <a:t>Interface</a:t>
              </a:r>
            </a:p>
          </p:txBody>
        </p:sp>
        <p:sp>
          <p:nvSpPr>
            <p:cNvPr id="5" name="TextBox 5"/>
            <p:cNvSpPr txBox="1"/>
            <p:nvPr/>
          </p:nvSpPr>
          <p:spPr>
            <a:xfrm>
              <a:off x="0" y="-47625"/>
              <a:ext cx="20731263" cy="525145"/>
            </a:xfrm>
            <a:prstGeom prst="rect">
              <a:avLst/>
            </a:prstGeom>
          </p:spPr>
          <p:txBody>
            <a:bodyPr lIns="0" tIns="0" rIns="0" bIns="0" rtlCol="0" anchor="t">
              <a:spAutoFit/>
            </a:bodyPr>
            <a:lstStyle/>
            <a:p>
              <a:pPr algn="l">
                <a:lnSpc>
                  <a:spcPts val="33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282</Words>
  <Application>Microsoft Office PowerPoint</Application>
  <PresentationFormat>Personnalisé</PresentationFormat>
  <Paragraphs>33</Paragraphs>
  <Slides>14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14</vt:i4>
      </vt:variant>
    </vt:vector>
  </HeadingPairs>
  <TitlesOfParts>
    <vt:vector size="19" baseType="lpstr">
      <vt:lpstr>Clear Sans Regular Bold</vt:lpstr>
      <vt:lpstr>Clear Sans Bold</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in Education Technology Presentation in Blue Peach Illustrative Style</dc:title>
  <cp:lastModifiedBy>BK</cp:lastModifiedBy>
  <cp:revision>3</cp:revision>
  <dcterms:created xsi:type="dcterms:W3CDTF">2006-08-16T00:00:00Z</dcterms:created>
  <dcterms:modified xsi:type="dcterms:W3CDTF">2025-06-02T18:44:09Z</dcterms:modified>
  <dc:identifier>DAFe3L2dMVY</dc:identifier>
</cp:coreProperties>
</file>